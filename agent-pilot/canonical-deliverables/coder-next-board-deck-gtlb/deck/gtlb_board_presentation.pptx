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88E5"/>
                </a:solidFill>
              </a:defRPr>
            </a:pPr>
            <a:r>
              <a:t>GitLab Inc. (GTLB)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</a:defRPr>
            </a:pPr>
            <a:r>
              <a:t>Board of Advisors Presentation | June 18,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88E5"/>
                </a:solidFill>
              </a:defRPr>
            </a:pPr>
            <a:r>
              <a:t>Recommendation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 b="1">
                <a:solidFill>
                  <a:srgbClr val="43A047"/>
                </a:solidFill>
              </a:defRPr>
            </a:pPr>
            <a:r>
              <a:t>**RECOMMENDATION:** BUY</a:t>
            </a:r>
          </a:p>
          <a:p>
            <a:pPr>
              <a:defRPr sz="2800">
                <a:solidFill>
                  <a:srgbClr val="1E88E5"/>
                </a:solidFill>
              </a:defRPr>
            </a:pPr>
            <a:r>
              <a:t>12-Month Price Target: $42.00 (Upside: 95% upside)</a:t>
            </a:r>
          </a:p>
          <a:p>
            <a:pPr>
              <a:defRPr sz="2400">
                <a:solidFill>
                  <a:srgbClr val="212121"/>
                </a:solidFill>
              </a:defRPr>
            </a:pPr>
            <a:r>
              <a:t>Current Price: $21.51</a:t>
            </a:r>
          </a:p>
          <a:p>
            <a:pPr>
              <a:defRPr sz="2400">
                <a:solidFill>
                  <a:srgbClr val="1E88E5"/>
                </a:solidFill>
              </a:defRPr>
            </a:pPr>
            <a:r>
              <a:t>Probability-Weighted Target: $45.98 (114% upside)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88E5"/>
                </a:solidFill>
              </a:defRPr>
            </a:pPr>
            <a:r>
              <a:t>Investment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Large and Growing TAM ($30B+ DevOps market)</a:t>
            </a:r>
          </a:p>
          <a:p>
            <a:pPr>
              <a:defRPr sz="2400">
                <a:solidFill>
                  <a:srgbClr val="212121"/>
                </a:solidFill>
              </a:defRPr>
            </a:pPr>
            <a:r>
              <a:t>Proven Growth Engine (30% CAGR revenue, 30% CAGR ARR)</a:t>
            </a:r>
          </a:p>
          <a:p>
            <a:pPr>
              <a:defRPr sz="2400">
                <a:solidFill>
                  <a:srgbClr val="212121"/>
                </a:solidFill>
              </a:defRPr>
            </a:pPr>
            <a:r>
              <a:t>Clear Path to Profitability (operating margins improving 13pp annually)</a:t>
            </a:r>
          </a:p>
          <a:p>
            <a:pPr>
              <a:defRPr sz="2400">
                <a:solidFill>
                  <a:srgbClr val="212121"/>
                </a:solidFill>
              </a:defRPr>
            </a:pPr>
            <a:r>
              <a:t>Strong Balance Sheet ($1.26B cash, negligible debt)</a:t>
            </a:r>
          </a:p>
          <a:p>
            <a:pPr>
              <a:defRPr sz="2400">
                <a:solidFill>
                  <a:srgbClr val="212121"/>
                </a:solidFill>
              </a:defRPr>
            </a:pPr>
            <a:r>
              <a:t>What the Market Is Missing (AI monetization, operating leverage, ARR quality)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88E5"/>
                </a:solidFill>
              </a:defRPr>
            </a:pPr>
            <a:r>
              <a:t>Financial Trajectory: Historical + Projected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212121"/>
                </a:solidFill>
              </a:defRPr>
            </a:pPr>
            <a:r>
              <a:t>Revenue: $424M (FY2023) → $955M (FY2026), 30% CAGR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Operating Margins: -49.8% (FY2023) → -7.4% (FY2026), +13pp annually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Free Cash Flow: $222M (FY2026), positive since FY2024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ARR: $300M (FY2022) → $860M (FY2026), 30% CAGR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NRR: 120% (FY2022) → 115% (FY2026), still strong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88E5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212121"/>
                </a:solidFill>
              </a:defRPr>
            </a:pPr>
            <a:r>
              <a:t>GitLab (GTLB): 2.56x EV/Revenue, 23.2% growth, 87.4% gross margin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Atlassian (TEAM): 3.22x EV/Revenue, 23.3% growth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Datadog (DDOG): 12.39x EV/Revenue, 29.2% growth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MongoDB (MDB): 7.33x EV/Revenue, 26.7% growth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Peer Average: 6.71x EV/Revenue, 22.1%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88E5"/>
                </a:solidFill>
              </a:defRPr>
            </a:pPr>
            <a:r>
              <a:t>Valuation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12121"/>
                </a:solidFill>
              </a:defRPr>
            </a:pPr>
            <a:r>
              <a:t>Primary: DCF with FCF projections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- WACC: 10.5%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- Terminal growth: 3.0%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- DCF base case: $38.52/share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Secondary: EV/Revenue peer comparison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- Peer average: 6.71x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- Implied price: $53.25/share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Selected target: $42.00 (midpoint, 3.5x FY2027E EV/Revenue)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88E5"/>
                </a:solidFill>
              </a:defRPr>
            </a:pPr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12121"/>
                </a:solidFill>
              </a:defRPr>
            </a:pPr>
            <a:r>
              <a:t>High Probability / High Impact: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NRR decline (120% → 115%)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Competition from GitHub Copilot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Medium Probability / High Impact: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Macro downturn (enterprise software spending cuts)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AI monetization failure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Low Probability / High Impact: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Open-source cannibalization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Key person risk (CEO Sid Sijbrandij)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88E5"/>
                </a:solidFill>
              </a:defRPr>
            </a:pPr>
            <a:r>
              <a:t>Bear/Base/Bull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212121"/>
                </a:solidFill>
              </a:defRPr>
            </a:pPr>
            <a:r>
              <a:t>Bear (25% probability): $18.58/share (-14% downside)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Base (50% probability): $38.52/share (79% upside)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Bull (25% probability): $88.30/share (310% upside)</a:t>
            </a:r>
          </a:p>
          <a:p>
            <a:pPr>
              <a:defRPr sz="2200">
                <a:solidFill>
                  <a:srgbClr val="212121"/>
                </a:solidFill>
              </a:defRPr>
            </a:pPr>
          </a:p>
          <a:p>
            <a:pPr>
              <a:defRPr sz="2200" b="1">
                <a:solidFill>
                  <a:srgbClr val="1E88E5"/>
                </a:solidFill>
              </a:defRPr>
            </a:pPr>
            <a:r>
              <a:t>Probability-Weighted Target: $45.98/share (114% upside)</a:t>
            </a:r>
          </a:p>
          <a:p>
            <a:pPr>
              <a:defRPr sz="2200">
                <a:solidFill>
                  <a:srgbClr val="212121"/>
                </a:solidFill>
              </a:defRPr>
            </a:pP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Current Price: $21.51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88E5"/>
                </a:solidFill>
              </a:defRPr>
            </a:pPr>
            <a:r>
              <a:t>Agent's Decision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212121"/>
                </a:solidFill>
              </a:defRPr>
            </a:pPr>
            <a:r>
              <a:t>INPUT DATA: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SEC filings (yfinance)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Earnings transcripts (Seeking Alpha)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Financial data (yfinance)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ANALYSIS PHASE: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Financial modeling (three-statement model)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Competitive analysis (8 comparable companies)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Scenario analysis (bear/base/bull)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DECISION PHASE: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Investment thesis (5 key points)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Valuation target ($42.00)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Risk assessment (6 key risks)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CONCLUSION: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BUY recommendation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95% upside from current price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88E5"/>
                </a:solidFill>
              </a:defRPr>
            </a:pPr>
            <a:r>
              <a:t>Dead Ends: What Didn't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212121"/>
                </a:solidFill>
              </a:defRPr>
            </a:pPr>
            <a:r>
              <a:t>1. SEC Filing Downloads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• Attempted: Direct URL access, session-based requests, curl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• Failed: 403 Forbidden errors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• Resolution: Used yfinance instead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2. GitLab Investor Relations Website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• Attempted: Access investors.gitlab.com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• Failed: DNS resolution failed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• Resolution: Used Seeking Alpha transcripts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3. PRNewswire Press Releases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• Attempted: Search PRNewswire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• Failed: Search URL returned 404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• Resolution: Used yfinance data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4. Initial CIK Lookup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• Attempted: Used CIK 0001687226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• Failed: Mapped to wrong company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• Resolution: Found correct CIK 0001653482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88E5"/>
                </a:solidFill>
              </a:defRPr>
            </a:pPr>
            <a:r>
              <a:t>How to Audit This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212121"/>
                </a:solidFill>
              </a:defRPr>
            </a:pPr>
            <a:r>
              <a:t>Every claim is traceable to source: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1. TRACE FILES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Location: /audit/traces/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Purpose: Point to source files in input repo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2. NUMBER TRACKING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Location: /audit/numbers.md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Purpose: Every number with source path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3. QUOTE TRACKING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Location: /audit/quotes.md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Purpose: Every quote with file + line number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4. RECONCILIATION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Location: /audit/reconciliation.md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 Purpose: Spot-check 5 random numbers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To verify any claim: Follow the trace file → Check source → Verify number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88E5"/>
                </a:solidFill>
              </a:defRPr>
            </a:pPr>
            <a:r>
              <a:t>Confidence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212121"/>
                </a:solidFill>
              </a:defRPr>
            </a:pPr>
            <a:r>
              <a:t>What We're Confident About: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Revenue trajectory (5 years of consistent growth)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Gross margins (stable at 87-90%)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Balance sheet ($1.26B cash, negligible debt)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SaaS model quality (subscription revenue)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What We're Estimating: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ARR and NRR (management metrics, not GAAP)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AI monetization (uncertain, forward-looking)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Competitive dynamics (unpredictable)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What a Human Analyst Would Do Differently: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Download and read full 10-K filings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Attend earnings calls (live)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Customer interviews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Competitor product evaluation</a:t>
            </a:r>
          </a:p>
          <a:p>
            <a:pPr lvl="1">
              <a:defRPr sz="1800">
                <a:solidFill>
                  <a:srgbClr val="212121"/>
                </a:solidFill>
              </a:defRPr>
            </a:pPr>
            <a:r>
              <a:t>  • Management meetings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88E5"/>
                </a:solidFill>
              </a:defRPr>
            </a:pPr>
            <a:r>
              <a:t>Recommendation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43A047"/>
                </a:solidFill>
              </a:defRPr>
            </a:pPr>
            <a:r>
              <a:t>RECOMMENDATION: BUY @ $42.00 (95% upside)</a:t>
            </a:r>
          </a:p>
          <a:p>
            <a:pPr>
              <a:defRPr sz="2000">
                <a:solidFill>
                  <a:srgbClr val="212121"/>
                </a:solidFill>
              </a:defRPr>
            </a:pP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Position Sizing: 2-3% of portfolio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Holding Period: 12 months</a:t>
            </a:r>
          </a:p>
          <a:p>
            <a:pPr>
              <a:defRPr sz="2000">
                <a:solidFill>
                  <a:srgbClr val="212121"/>
                </a:solidFill>
              </a:defRPr>
            </a:pP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Catalysts: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FY2027 Q1 earnings (June 2026)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GAAP operating profitability (expected FY2028)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AI feature expansion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Potential M&amp;A</a:t>
            </a:r>
          </a:p>
          <a:p>
            <a:pPr>
              <a:defRPr sz="2000">
                <a:solidFill>
                  <a:srgbClr val="212121"/>
                </a:solidFill>
              </a:defRPr>
            </a:pP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Key Risks: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NRR decline below 110%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GitHub Copilot execution</a:t>
            </a:r>
          </a:p>
          <a:p>
            <a:pPr lvl="1">
              <a:defRPr sz="2000">
                <a:solidFill>
                  <a:srgbClr val="212121"/>
                </a:solidFill>
              </a:defRPr>
            </a:pPr>
            <a:r>
              <a:t>  • Macro downturn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E88E5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
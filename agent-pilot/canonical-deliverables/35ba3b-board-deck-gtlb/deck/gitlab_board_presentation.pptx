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GitLab Inc. (GTLB)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F6E4"/>
                </a:solidFill>
                <a:latin typeface="Calibri"/>
              </a:defRPr>
            </a:pPr>
            <a:r>
              <a:t>Board of Advisors Presentation — Investment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031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12-MONTH PRICE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Calibri"/>
              </a:defRPr>
            </a:pPr>
            <a:r>
              <a:t>$42.00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03120"/>
            <a:ext cx="2743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Calibri"/>
              </a:defRPr>
            </a:pPr>
            <a:r>
              <a:t>+95%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  <a:latin typeface="Calibri"/>
              </a:defRPr>
            </a:pPr>
            <a:r>
              <a:t>Current Price: $21.51  |  Market Cap: $3.66B  |  Sector: Software — Infrastructure  |  Shares Outstanding: 170.1M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Confidence Level: 7/10 — Strong conviction in business model, moderate uncertainty on timing of profitability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10058400" cy="274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704088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0          2          4          6          8          10</a:t>
            </a:r>
          </a:p>
        </p:txBody>
      </p:sp>
      <p:pic>
        <p:nvPicPr>
          <p:cNvPr id="19" name="Picture 18" descr="10-stock-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29200"/>
            <a:ext cx="4114800" cy="137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/input/repo/memo/gitlab_investment_memo.md, /input/repo/extracted/company_info.json | Trace: /audit/traces/slide1_recommendation.md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The Investment Thesis — In the Agent's Own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GitLab is a high-quality SaaS company with a clear path to profitability, strong SaaS metrics, and a differentiated competitive position.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1. Large and Growing TAM — DevOps and developer tools market estimated at $30B+, growing 15-20% annually. GitLab's full-stack approach positions it to capture share from fragmented point solutions.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2. Proven Growth Engine — Revenue grew from $424M (FY2023) to $955M (FY2026), 30% CAGR. ARR grew from $400M to $860M. NRR of 115% means existing customers expand 15% annually.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3. Clear Path to Profitability — Operating margins improved from -49.8% (FY2023) to -7.4% (FY2026). FCF turned positive in FY2024 ($33M) and reached $222M in FY2026. GAAP profitability projected by FY2028.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4. Strong Balance Sheet — $1.26B in cash/investments with negligible debt ($0.2M). Provides optionality for M&amp;A, R&amp;D, or weathering downturns.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5. What the Market Is Missing — AI monetization potential (GitLab Duo), operating leverage as revenue passes $1B, and ARR quality ($860M with 115% NRR = ~$990M next-year revenue from existing customers).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/input/repo/memo/gitlab_investment_memo.md (Investment Thesis section) | Trace: /audit/traces/slide2_revenue_growth.md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Calibri"/>
              </a:defRPr>
            </a:pPr>
            <a:r>
              <a:t>What Would Change the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 good analyst shows the exit before showing the entry. Here are the 3 conditions that would flip BUY to HOLD or SELL.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NRR Falls Below 110%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If NRR declines from 115% to below 110%, revenue growth would slow significantly. This would indicate customers are not expanding usage, which undermines the core growth engine.</a:t>
            </a:r>
            <a:br/>
            <a:br/>
            <a:r>
              <a:t>What would have to be true: GitHub Copilot or Atlassian AI offers compelling alternatives that reduce GitLab's expansion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 Copilot Eats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If Microsoft's GitHub Copilot expands beyond coding assistance into full DevOps functionality, GitLab's open-core distribution advantage could erode.</a:t>
            </a:r>
            <a:br/>
            <a:br/>
            <a:r>
              <a:t>What would have to be true: GitHub integrates full CI/CD, security scanning, and monitoring capabilities, and developers prefer the GitHub ecosystem over GitLab's.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8988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Macro Recession Hits Enterprise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 recession could delay enterprise software purchases, reduce NRR, and extend the path to profitability.</a:t>
            </a:r>
            <a:br/>
            <a:br/>
            <a:r>
              <a:t>What would have to be true: Enterprise software spending declines by 15%+ for 2+ consecutive quarters, and GitLab's pipeline dries 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/input/repo/memo/gitlab_investment_memo.md (Risk Assessment section) | Trace: /audit/traces/slide3_nrr_threshold.md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Financial Trajectory: Revenue, Margin &amp; FCF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Revenue growing 30% CAGR, margins improving rapidly, FCF turned positive in FY2024</a:t>
            </a:r>
          </a:p>
        </p:txBody>
      </p:sp>
      <p:pic>
        <p:nvPicPr>
          <p:cNvPr id="4" name="Picture 3" descr="01-financial-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Revenue CAGR (FY2023-FY2026): 30%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Operating Margin Improvement: 42 pp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FCF Turned Positive: FY2024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Gross Margin: Stable 87-90%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ARR Growth: 33% → 26% (moderating)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NRR: 118% → 115% (declining but strong)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/input/repo/extracted/income_statement_annual.csv, cash_flow_annual.csv, financial_summary.json | Trace: /audit/traces/slide4_revenue.md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Competitive Position: Growth vs.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GitLab is the only large-cap SaaS at 2.6x EV/Revenue with 23% growth — the market is pricing it like a low-growth company</a:t>
            </a:r>
          </a:p>
        </p:txBody>
      </p:sp>
      <p:pic>
        <p:nvPicPr>
          <p:cNvPr id="4" name="Picture 3" descr="02-competitive-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Why These Comps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SaaS business model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Similar growth profiles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Publicly traded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Mix of profitable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and growth-stage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Excluded: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GitHub (private)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ServiceNow (too large)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• Palo Alto (different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/input/repo/extracted/competitor_data.json | Trace: /audit/traces/slide5_gtlb_ev_rev.md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The Mispricing Thesis: Why the Market Is Wrong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Sell-Side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$30.79 (24 analysts)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Most focus on near-term profitability timeline. Limited analysis of AI monetization potential. NRR decline from 120% to 115% seen as negative, but still strong.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070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Our DCF Base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$38.52 (79% upside)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DCF with WACC 10.5%, terminal growth 3%. Captures the value of future cash generation as margins improve and revenue scales.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070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Our 12-Month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$42.00 (95% upside)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Midpoint between DCF ($38.52) and probability-weighted target ($45.98). Represents 3.5x FY2027E EV/Revenue, below peer average of 7.0x.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Key Mispricing Factors: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1. AI Monetization — GitLab Duo embedded in developer workflow, creating natural upsell paths the market hasn't priced in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2. Operating Leverage — As revenue grows past $1B, fixed costs spread over larger base. Projected operating margins: -7% (FY2026) → +5% (FY2029) → +12% (FY2031)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3. Balance Sheet Optionality — $1.26B cash/investments with $0.2M debt provides M&amp;A, R&amp;D, or downturn optionality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/input/repo/extracted/company_info.json, /input/repo/memo/gitlab_investment_memo.md | Trace: /audit/traces/slide6_consensus.md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Calibri"/>
              </a:defRPr>
            </a:pPr>
            <a:r>
              <a:t>Risk Assessment: Prioritized by Probability &amp; Impact</a:t>
            </a:r>
          </a:p>
        </p:txBody>
      </p:sp>
      <p:pic>
        <p:nvPicPr>
          <p:cNvPr id="3" name="Picture 2" descr="05-risk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Top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1. NRR Decline (High/High)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 NRR fell 120%→115%. If &lt;110%, growth slows.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2. GitHub Competition (Med/High)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 Copilot expanding beyond coding.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3. Macro Downturn (Med/High)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 Enterprise software spending cuts.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4. AI Monetization Failure (Med/Med)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 AI features don't drive upsells.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5. Open-Source Cannibalization (Low/Med)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 Self-hosted users prefer free version.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6. Key Person Risk (Low/Low)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 CEO Sid Sijbrandij is key visionary.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/input/repo/memo/gitlab_investment_memo.md (Risk Assessment) | Trace: /audit/traces/slide7_nrr_decline.md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Scenario Analysis: Probability-Weighted Price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The price target is a distribution, not a number. Expected value: $45.98 | 12-month target: $42.00</a:t>
            </a:r>
          </a:p>
        </p:txBody>
      </p:sp>
      <p:pic>
        <p:nvPicPr>
          <p:cNvPr id="4" name="Picture 3" descr="03-scenario-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Scenario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Bear (25%): $18.58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-14% from current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12% revenue growth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12.0% WACC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Base (50%): $38.52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+79% from current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20% revenue growth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10.5% WACC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Bull (25%): $88.30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+310% from current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28% revenue growth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9.0% WACC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Expected: $45.98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+114% from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/input/repo/memo/gitlab_investment_memo.md (Scenario Analysis) | Trace: /audit/traces/slide8_scenarios.md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DCF Bridge: From $21.51 to $42.00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How we get from the current price to the target — each component is traceable to the input repo</a:t>
            </a:r>
          </a:p>
        </p:txBody>
      </p:sp>
      <p:pic>
        <p:nvPicPr>
          <p:cNvPr id="4" name="Picture 3" descr="09-dcf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WACC: 10.5%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Rf: 4.5% (10Y Treasury)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Beta: 1.2 (SaaS sector)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ERP: 5.5%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Terminal Growth: 3.0%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Conservative, below GDP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Revenue CAGR: 20%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FY2027-FY2031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FCF Margin: 25-28%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By FY2031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Shares: 170.1M</a:t>
            </a:r>
          </a:p>
          <a:p>
            <a:pPr>
              <a:spcAft>
                <a:spcPts val="600"/>
              </a:spcAft>
              <a:defRPr sz="1000">
                <a:solidFill>
                  <a:srgbClr val="374151"/>
                </a:solidFill>
                <a:latin typeface="Calibri"/>
              </a:defRPr>
            </a:pPr>
            <a:r>
              <a:t>  No buybacks assumed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/input/repo/decisions/003-valuation-methodology.md, /input/repo/memo/gitlab_investment_memo.md | Trace: /audit/traces/slide9_wacc.md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9488"/>
                </a:solidFill>
                <a:latin typeface="Calibri"/>
              </a:defRPr>
            </a:pPr>
            <a:r>
              <a:t>The Reasoning Trail: How the Agent Moved from Data to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This is the capability demonstration. Every node is a decision point or data artifact. Every edge is a data flow.</a:t>
            </a:r>
          </a:p>
        </p:txBody>
      </p:sp>
      <p:pic>
        <p:nvPicPr>
          <p:cNvPr id="4" name="Picture 3" descr="06-reasoning-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/input/repo/decisions/, /input/repo/research/, /input/repo/memo/ | Trace: /audit/traces/slide10_transcripts.md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Dead Ends: Hypotheses Investigated and Rejected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Boards trust analysts who show their work. Here are the 5 approaches that failed and what we learned.</a:t>
            </a:r>
          </a:p>
        </p:txBody>
      </p:sp>
      <p:pic>
        <p:nvPicPr>
          <p:cNvPr id="4" name="Picture 3" descr="07-dead-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183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82880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SEC blocks automated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access — use yfinance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as proxy for filings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CIK databases can be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outdated — verify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through SEC systems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Text transcripts are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sufficient for analysis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when audio is blocked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Document every dead end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— it proves rigor and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prevents repetition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/input/repo/research/dead-ends.md | Trace: /audit/traces/slide11_dead_ends.md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9488"/>
                </a:solidFill>
                <a:latin typeface="Calibri"/>
              </a:defRPr>
            </a:pPr>
            <a:r>
              <a:t>Confidence &amp; Limitations: What We Know vs. What We Estimate</a:t>
            </a:r>
          </a:p>
        </p:txBody>
      </p:sp>
      <p:pic>
        <p:nvPicPr>
          <p:cNvPr id="3" name="Picture 2" descr="08-confidence-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943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What We're Confident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✓ Revenue trajectory — 5 years of consistent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growth data provides strong basis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✓ Gross margins — Stable at 87-90%,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well-documented across filings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✓ Balance sheet — $1.26B cash/investments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with negligible debt is a fact, not estimate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✓ SaaS model quality — Subscription revenue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provides high visibility and predictability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What We're Estimating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572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⚠ ARR and NRR — Management metrics,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not GAAP figures. Derived from earnings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call transcripts, may differ from official.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⚠ AI monetization — Revenue impact of AI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features is uncertain and forward-looking.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⚠ Competitive dynamics — Pace of GitHub/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Atlassian AI feature development is</a:t>
            </a:r>
          </a:p>
          <a:p>
            <a:pPr>
              <a:spcAft>
                <a:spcPts val="6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unpredictable.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Source: /input/repo/memo/gitlab_investment_memo.md (Confidence and Limitations) | Trace: /audit/traces/slide12_revenue_confidence.md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How to Audit This Deck — The Self-Audit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This is the most important slide for a skeptical technical board. It shows how to verify any claim in under 2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Clone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git clone /workspace/ — This repo contains everything: the deck, the charts, the audit trail, and the source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Pick any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40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Find a number on any slide. E.g., Slide 4 says 'Revenue: $955M (FY2026)'.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Follow the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089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Go to /audit/traces/slide4_revenue.md. It points to /input/repo/extracted/income_statement_annual.csv, row 'Total Revenue', column '2026-01-31'.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Verify the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776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Open the CSV. The value is 955,224,000. Rounded to millions = $955M. Match confirmed.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Check the chart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46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Go to /assets/charts/01-financial-trajectory.py. Run it. You get back the exact chart from the deck.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1500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Check the quotes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715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Go to /audit/quotes.md. It shows the full paragraph context, not just the quote. Verify the quote isn't ripped out of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Key files: /audit/traces/ (claim traces) | /audit/numbers.md (all numbers) | /audit/quotes.md (all quotes) | /audit/reconciliation.md (spot checks) | /assets/charts/ (reproducible scripts)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This slide demonstrates the audit mechanism. Every claim in the deck has a corresponding trace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Number Reconciliation: 5 Spot-Checked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Proof that the audit mechanism works. Each number is traced to its source and verified.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280160"/>
            <a:ext cx="10972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Deck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74320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Source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411480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Source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280160"/>
            <a:ext cx="91440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Revenue FY2026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1645920"/>
            <a:ext cx="10972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$955M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645920"/>
            <a:ext cx="2743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income_statement_annual.csv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45920"/>
            <a:ext cx="4114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6459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Total Revenue, 2026-01-31: 955,224,000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645920"/>
            <a:ext cx="914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423160"/>
            <a:ext cx="18288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23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Op Margin FY2026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2423160"/>
            <a:ext cx="10972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2423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-7.4%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2423160"/>
            <a:ext cx="27432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423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income_statement_annual.csv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423160"/>
            <a:ext cx="41148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4231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-70,481,000 / 955,224,000 = -7.38% → -7.4%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0" y="2423160"/>
            <a:ext cx="9144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423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2004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FCF FY2026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3200400"/>
            <a:ext cx="10972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32004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$222M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3200400"/>
            <a:ext cx="2743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200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cash_flow_annual.csv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200400"/>
            <a:ext cx="4114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2004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Free Cash Flow, 2026-01-31: 222,029,000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3200400"/>
            <a:ext cx="914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977639"/>
            <a:ext cx="18288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9776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NRR FY2026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3977639"/>
            <a:ext cx="10972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3977639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115%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80" y="3977639"/>
            <a:ext cx="27432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397763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financial_summary.json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3977639"/>
            <a:ext cx="41148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977639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nrr[4]: 115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0" y="3977639"/>
            <a:ext cx="91440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397763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7548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7548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DCF Base Case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86000" y="4754880"/>
            <a:ext cx="10972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0" y="4754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$38.52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83280" y="4754880"/>
            <a:ext cx="2743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4754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memo/gitlab_investment_memo.md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0" y="4754880"/>
            <a:ext cx="4114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Implied Price: $38.52/share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41280" y="4754880"/>
            <a:ext cx="914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41280" y="47548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Full reconciliation: /audit/reconciliation.md | All numbers: /audit/numbers.md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657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F6E4"/>
                </a:solidFill>
                <a:latin typeface="Calibri"/>
              </a:defRPr>
            </a:pPr>
            <a:r>
              <a:t>The deck is for discussion, not redelivery. You've read the memo — this is where we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What assumptions in the DCF do you find most questionable?</a:t>
            </a:r>
            <a:br/>
            <a:r>
              <a:t>How confident are you in the NRR trajectory?</a:t>
            </a:r>
            <a:br/>
            <a:r>
              <a:t>What would you do differently if you were the analyst?</a:t>
            </a:r>
            <a:br/>
            <a:r>
              <a:t>Is the audit trail sufficient for your needs?</a:t>
            </a:r>
            <a:br/>
            <a:r>
              <a:t>What additional analysis would you want to see?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Recommendation: BUY | Target: $42.00 | Current: $21.51 | Confidence: 7/10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F6E4"/>
                </a:solidFill>
                <a:latin typeface="Calibri"/>
              </a:defRPr>
            </a:pPr>
            <a:r>
              <a:t>Repo: /workspace/ | Audit: /audit/ | Charts: /assets/charts/ | Traces: /audit/traces/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
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GitLab Inc. (GTLB)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Board of Advisors — Investment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3200400" cy="164592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>
                <a:solidFill>
                  <a:srgbClr val="FFFFFF"/>
                </a:solidFill>
                <a:latin typeface="Calibri"/>
              </a:defRPr>
            </a:pPr>
            <a:r>
              <a:t>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12-Month Price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3832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$42.00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297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59669"/>
                </a:solidFill>
                <a:latin typeface="Calibri"/>
              </a:defRPr>
            </a:pPr>
            <a:r>
              <a:t>95% upside from current $21.51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Probability-Weighted Target: $45.98 (114% upside)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Market Cap: $3.66B | NYSE: GTLB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June 18, 2025 | Agent-Generated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THESIS — In the Agent's Own Words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" cy="82296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1. Large &amp; Growing 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DevOps market estimated at $30B+, growing 15-20% annually. GitLab's full-stack approach positions it to capture share from fragmented point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365760" cy="82296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2. Proven Growth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Revenue grew from $424M (FY2023) to $955M (FY2026), a 30% CAGR. 115% NRR and $860M ARR drive predictable growth.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365760" cy="82296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3. Clear Path to Profitability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Operating margins improved 13pp annually: -50% → -32% → -19% → -7%. GAAP profitability projected by FY2028.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365760" cy="82296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Calibri"/>
              </a:defRPr>
            </a:pPr>
            <a:r>
              <a:t>4. Strong Balance Sheet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$1.26B in cash &amp; investments with negligible debt ($0.2M). Provides optionality for M&amp;A, R&amp;D, or weathering downturns.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20640"/>
            <a:ext cx="365760" cy="82296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5. What the Market Is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4067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AI monetization potential, operating leverage trajectory, and ARR quality are not fully priced in at 2.56x EV/Revenue.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/input/repo/memo/gitlab_investment_memo.md — Investment Thesis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 WOULD CHANGE OUR MIND — Thesis Breakers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Three scenarios that would invalidate the BUY recommendation: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47120" cy="146304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NRR Falls Below 110%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NRR has declined from 120% (FY2022) to 115% (FY2026). If this trend continues below 110%, revenue growth would slow significantly, undermining the growth thesis. The 115% NRR still implies $990M in next-year revenue from existing customers — below 110%, this drops below $950M.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What must be true: Enterprise customers stop expanding usage; AI features fail to drive upsells; competitive pressure forces price concessions.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11247120" cy="146304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Calibri"/>
              </a:defRPr>
            </a:pPr>
            <a:r>
              <a:t>GitHub Captures Full DevOps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Microsoft's GitHub Copilot has significant mindshare. If GitHub expands beyond code assistance into the full DevOps lifecycle (CI/CD, security, monitoring), GitLab's differentiation erodes. Currently, Copilot is a coding assistant, not a full platform.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What must be true: Microsoft invests heavily in DevOps platform features; GitHub Actions becomes a full CI/CD replacement; enterprise customers consolidate on GitHub.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9377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Macro Recession Cuts Enterprise Software Spend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Enterprise software spending is cyclical. A recession could delay purchases, reduce NRR, and push back the profitability timeline. GitLab's $1.26B cash provides runway, but growth would slow.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What must be true: GDP contraction &gt;2%; enterprise IT budgets cut by 15%+; customer churn increases; new logo acquisition slows.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/input/repo/memo/gitlab_investment_memo.md — Risk Assessment 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FINANCIAL TRAJECTORY — Revenue &amp; Margins</a:t>
            </a:r>
          </a:p>
        </p:txBody>
      </p:sp>
      <p:pic>
        <p:nvPicPr>
          <p:cNvPr id="4" name="Picture 3" descr="01_revenue_mar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FY2024: FCF turns positive ($33M) — inflection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FY2026: Operating margin -7.4% — 13pp improvement per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FY2026: Revenue $955M — approaching $1B threshold for operating leverage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/input/repo/extracted/income_statement_annual.csv, financial_summary.json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SaaS METRICS — The Growth Engine</a:t>
            </a:r>
          </a:p>
        </p:txBody>
      </p:sp>
      <p:pic>
        <p:nvPicPr>
          <p:cNvPr id="4" name="Picture 3" descr="02_arr_n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943600"/>
            <a:ext cx="2560320" cy="6400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$860M</a:t>
            </a:r>
            <a:br/>
            <a:r>
              <a:t>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FY2026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5943600"/>
            <a:ext cx="2560320" cy="6400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115%</a:t>
            </a:r>
            <a:br/>
            <a:r>
              <a:t>NRR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65379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Declining from 120%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5943600"/>
            <a:ext cx="2560320" cy="6400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87.4%</a:t>
            </a:r>
            <a:br/>
            <a:r>
              <a:t>Gross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65379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Stable 87-90%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5943600"/>
            <a:ext cx="2560320" cy="6400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$572M</a:t>
            </a:r>
            <a:br/>
            <a:r>
              <a:t>Deferred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65379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High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/input/repo/extracted/financial_summary.json, balance_sheet_annual.csv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COMPETITIVE POSITION — Growth vs. Valuation</a:t>
            </a:r>
          </a:p>
        </p:txBody>
      </p:sp>
      <p:pic>
        <p:nvPicPr>
          <p:cNvPr id="4" name="Picture 3" descr="03_competitive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▸ GitLab trades at 2.56x EV/Revenue vs. peer average of ~6.8x — a 62% discount for similar growth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Comp set selected per ADR-002: 8 SaaS infrastructure/application peers with similar growth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/input/repo/extracted/competitor_data.json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MISPRICING THESIS — Why the Market Is Wrong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200400" cy="228600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Current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$21.51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2.56x EV/Revenue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0D0D0"/>
                </a:solidFill>
                <a:latin typeface="Calibri"/>
              </a:defRPr>
            </a:pPr>
            <a:r>
              <a:t>Market's current assessment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371600"/>
            <a:ext cx="3200400" cy="228600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DCF Base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$38.52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10.5% WACC, 3% 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0D0D0"/>
                </a:solidFill>
                <a:latin typeface="Calibri"/>
              </a:defRPr>
            </a:pPr>
            <a:r>
              <a:t>Intrinsic value from cash 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371600"/>
            <a:ext cx="3200400" cy="228600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Peer EV/Revenue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$53.25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7.03x peer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0D0D0"/>
                </a:solidFill>
                <a:latin typeface="Calibri"/>
              </a:defRPr>
            </a:pPr>
            <a:r>
              <a:t>Relative valuation to peers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4114800"/>
            <a:ext cx="2103120" cy="10972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Our Target</a:t>
            </a:r>
            <a:br/>
            <a:r>
              <a:t>$42.00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212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Calibri"/>
              </a:defRPr>
            </a:pPr>
            <a:r>
              <a:t>95% upside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Three factors the market is underpricing: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1. AI Monetization: GitLab Duo embedded in workflow creates natural upsell paths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2. Operating Leverage: Fixed costs spread over growing revenue base past $1B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3. Balance Sheet: $1.26B cash provides M&amp;A optionality and downside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/input/repo/memo/gitlab_investment_memo.md — Valuation section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RISK ASSESSMENT — Prioritized by Probability &amp; Impact</a:t>
            </a:r>
          </a:p>
        </p:txBody>
      </p:sp>
      <p:pic>
        <p:nvPicPr>
          <p:cNvPr id="4" name="Picture 3" descr="05_ris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Highest priority: NRR decline (75% probability, 90% impact) — monitor quarterly NRR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Second priority: GitHub competition (50% probability, 85% impact) — watch Microsoft's DevOps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/input/repo/memo/gitlab_investment_memo.md — Risk Assessment section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BEAR / BASE / BULL — Probability-Weighted Distribution</a:t>
            </a:r>
          </a:p>
        </p:txBody>
      </p:sp>
      <p:pic>
        <p:nvPicPr>
          <p:cNvPr id="4" name="Picture 3" descr="04_scenario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Calibri"/>
              </a:defRPr>
            </a:pPr>
            <a:r>
              <a:t>Bear (25%)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636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Calibri"/>
              </a:defRPr>
            </a:pPr>
            <a:r>
              <a:t>$18.58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6035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Calibri"/>
              </a:defRPr>
            </a:pPr>
            <a:r>
              <a:t>Base (50%)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2636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$38.52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6035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Calibri"/>
              </a:defRPr>
            </a:pPr>
            <a:r>
              <a:t>Bull (25%)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62636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Calibri"/>
              </a:defRPr>
            </a:pPr>
            <a:r>
              <a:t>$88.30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/input/repo/memo/gitlab_investment_memo.md — Scenario Analysis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REASONING TRAIL — How We Got Here</a:t>
            </a:r>
          </a:p>
        </p:txBody>
      </p:sp>
      <p:pic>
        <p:nvPicPr>
          <p:cNvPr id="4" name="Picture 3" descr="06_reasoning_tr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61288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/input/repo/decisions/ (ADR-001 through ADR-003), /input/repo/tool-log.md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DEAD ENDS — What We Investigated and Rejected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Honest accounting of what didn't work — boards trust analysts who show their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47120" cy="8686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SEC Filing Downloads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Attempted 10-K/10-Q downloads from sec.gov. All returned 403 (Forbidden). Tried multiple User-Agent headers, session-based requests, curl, text versions. SEC actively blocks automated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Resolution: Used yfinance data instead (SEC-derived secondary source)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11247120" cy="8686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GitLab IR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DNS resolution failed for investors.gitlab.com. Could not access official earnings presentations or press releases.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Resolution: Relied on Seeking Alpha transcripts instead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11247120" cy="8686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04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PRNewswire Press Releases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Search URL returned 404. PRNewswire may have changed their search API or blocked automated access.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Resolution: No press releases included in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34840"/>
            <a:ext cx="11247120" cy="8686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Initial CIK Lookup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91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CIK 0001687226 mapped to 'Harper James P' not GitLab. Found correct CIK 0001653482 through SEC full-text search.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79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Resolution: Correct CIK used for all subsequent data retrieval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94959"/>
            <a:ext cx="11247120" cy="86868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40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Earnings Call Audio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7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93B"/>
                </a:solidFill>
                <a:latin typeface="Calibri"/>
              </a:defRPr>
            </a:pPr>
            <a:r>
              <a:t>No accessible audio sources. Seeking Alpha 'Play Call' buttons require JavaScript execution.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599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Resolution: Relied on text transcripts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/input/repo/research/dead-ends.md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CONFIDENCE &amp; LIMITATIONS — What We Know vs. What We Estimate</a:t>
            </a:r>
          </a:p>
        </p:txBody>
      </p:sp>
      <p:pic>
        <p:nvPicPr>
          <p:cNvPr id="4" name="Picture 3" descr="07_confidence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We are most confident in revenue trajectory, gross margins, and balance sheet — these are facts, not estimates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We are least confident in AI monetization and competitive dynamics — these are forward-looking estimates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/input/repo/memo/gitlab_investment_memo.md — Confidence and Limitations section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HOW TO AUDIT THIS DECK — Self-Verification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Any board member can verify any claim in this deck in under 2 minutes: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47120" cy="77724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1. Clone the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git clone &lt;repo-url&gt; &amp;&amp; cd &lt;repo-dir&gt;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Get the full audit trail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1247120" cy="77724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2. Pick any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e.g., 'Revenue FY2026 = $955M' on Slide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Choose any claim to 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77724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3. Find the trace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cat audit/traces/trace_02_revenue_fy2026.md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Trace file points to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11247120" cy="77724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4. Follow to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cat /input/repo/extracted/income_statement_annual.csv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006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Source data in input repo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12080"/>
            <a:ext cx="11247120" cy="77724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5. Verify the number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Total Revenue, 2026-01-31: 955224000.0 → $955.2M → $955M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Number matches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Key directories: /audit/traces/ (claim traces) | /audit/numbers.md (all numbers) | /audit/quotes.md (all quotes) | /assets/charts/ (reproducible scripts)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4572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DESIGN &amp; METHODOLOGY — Every Choice Documented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Valuation Methodology (ADR-003)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Primary: DCF with FCF projections (GitLab has positive FCF, predictable revenue)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Secondary: EV/Revenue peer comparison (standard SaaS metric)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WACC: 10.5% (Rf=4.5%, Beta=1.2, ERP=5.5%)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Terminal growth: 3.0% (conservative, below GDP growth)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Competitor Selection (ADR-002)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8 SaaS infrastructure/application peers with similar growth 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Excluded GitHub (private, owned by MSFT) and ServiceNow (too large)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Mix of profitable and growth-stage companies for range of multiples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Calibri"/>
              </a:defRPr>
            </a:pPr>
            <a:r>
              <a:t>Chart Conventions (ADR-005)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371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Dual-axis: Revenue (bars) + margins (line) for financial trajectory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45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Scatter: Growth vs. valuation for competitive positioning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920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Distribution: Probability-weighted scenarios, not bullet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194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Heat map: Probability vs. impact for risk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4688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Dependency graph: Top-down flow for reasoning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Color Palette (ADR-004)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00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Blue: Revenue, primary data, GitLab elements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4747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Green: Positive metrics, bull case, 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Red: Negative metrics, bear case,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02335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Purple: ARR, SaaS metrics, scenario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29767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▸ Orange: Warnings, ADRs, estimating 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Every non-obvious aesthetic and analytical decision has an ADR in /decisions/. 'Used red for downside' is convention; 'chose sequential colormap over diverging because data has natural zero at current price' is an ADR.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Source: /workspace/decisions/ (ADR-001 through ADR-005)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RECOMMENDATION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1371600"/>
          </a:xfrm>
          <a:prstGeom prst="round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BUY</a:t>
            </a:r>
            <a:br/>
            <a:r>
              <a:t>$42.00 | 95% Upside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Position 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Calibri"/>
              </a:defRPr>
            </a:pPr>
            <a:r>
              <a:t>2-3% of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Moderate position given high conviction</a:t>
            </a:r>
            <a:br/>
            <a:r>
              <a:t>but timing uncertainty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Holding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7490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  <a:latin typeface="Calibri"/>
              </a:defRPr>
            </a:pPr>
            <a:r>
              <a:t>12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Re-evaluate at FY2027 Q1 earnings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Catalysts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FY2027 Q1 earnings (June 2026): First quarter with AI revenue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GAAP operating profitability: Expected FY2028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AI feature expansion: New AI capabilities driving upsell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46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▸ Potential M&amp;A: $1.26B cash enables strategic acquisitions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GitLab is a high-quality SaaS company with a clear path to profitability, strong SaaS metrics, and a differentiated competitive position. The current valuation of 2.6x EV/Revenue is well below peer averages.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Source: /input/repo/memo/gitlab_investment_memo.md — Recommendation section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Numbers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Current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$21.51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43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Price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926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$42.00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743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Upside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9260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Market 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$3.66B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291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Revenue (FY2026)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474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$955M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918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ARR (FY2026)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474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$860M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8404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Cash &amp; Investments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023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$1.26B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404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EV/Revenue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023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2.56x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Peer Avg EV/Revenue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~6.8x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Full audit trail: /audit/ | Chart scripts: /assets/charts/ | Decision records: /decisions/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Disclaimer: This memo is for informational purposes only and does not constitute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